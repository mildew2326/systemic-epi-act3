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1 · IMMERSION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OPENING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43A66"/>
                </a:solidFill>
                <a:latin typeface="Calibri"/>
              </a:rPr>
              <a:t>The Alarm That Wouldn’t Stand 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B82"/>
                </a:solidFill>
                <a:latin typeface="Calibri"/>
              </a:rPr>
              <a:t>A story about protection… and what happens when protection never resolves.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Fire-alarm emotional open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1 / 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1 / 49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1 · IMMERSION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GUIDED SCENE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43A66"/>
                </a:solidFill>
                <a:latin typeface="Calibri"/>
              </a:rPr>
              <a:t>Close your eyes.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B82"/>
                </a:solidFill>
                <a:latin typeface="Calibri"/>
              </a:rPr>
              <a:t>Late night. Family asleep. The house is quiet enough to trust.
Begin eyes-closed script. Do not advance until “Open your eyes.”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Immersion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2 / 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2 / 49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1 · IMMERSION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NIGHT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43A66"/>
                </a:solidFill>
                <a:latin typeface="Calibri"/>
              </a:rPr>
              <a:t>The system worked.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B82"/>
                </a:solidFill>
                <a:latin typeface="Calibri"/>
              </a:rPr>
              <a:t>You got everyone out. The fire went down. Relief deep enough to drop you to your knees.
You are safe. They are safe. You still have a home.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Elation /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3 / 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3 / 49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1 · IMMERSION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DESCENT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3A66"/>
                </a:solidFill>
                <a:latin typeface="Calibri"/>
              </a:rPr>
              <a:t>Then the threshold drops.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192024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/>
            <a:r>
              <a:rPr sz="1600" b="1">
                <a:solidFill>
                  <a:srgbClr val="143A66"/>
                </a:solidFill>
                <a:latin typeface="Calibri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B6B82"/>
                </a:solidFill>
                <a:latin typeface="Calibri"/>
              </a:rPr>
              <a:t>Smaller sparks still call the full response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2011680"/>
            <a:ext cx="192024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/>
            <a:r>
              <a:rPr sz="1600" b="1">
                <a:solidFill>
                  <a:srgbClr val="143A66"/>
                </a:solidFill>
                <a:latin typeface="Calibri"/>
              </a:rPr>
              <a:t>02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B6B82"/>
                </a:solidFill>
                <a:latin typeface="Calibri"/>
              </a:rPr>
              <a:t>Water in the walls. Mold. Rooms you used to trust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011680"/>
            <a:ext cx="192024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/>
            <a:r>
              <a:rPr sz="1600" b="1">
                <a:solidFill>
                  <a:srgbClr val="143A66"/>
                </a:solidFill>
                <a:latin typeface="Calibri"/>
              </a:rPr>
              <a:t>03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B6B82"/>
                </a:solidFill>
                <a:latin typeface="Calibri"/>
              </a:rPr>
              <a:t>No sleep. Constant triage. Always listening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2011680"/>
            <a:ext cx="1920240" cy="2011680"/>
          </a:xfrm>
          <a:prstGeom prst="roundRect">
            <a:avLst>
              <a:gd name="adj" fmla="val 10000"/>
            </a:avLst>
          </a:prstGeom>
          <a:solidFill>
            <a:srgbClr val="FFEFEC"/>
          </a:solidFill>
          <a:ln w="1270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/>
            <a:r>
              <a:rPr sz="1600" b="1">
                <a:solidFill>
                  <a:srgbClr val="143A66"/>
                </a:solidFill>
                <a:latin typeface="Calibri"/>
              </a:rPr>
              <a:t>04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B6B82"/>
                </a:solidFill>
                <a:latin typeface="Calibri"/>
              </a:rPr>
              <a:t>The house still stands — but it no longer feels like shelter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Loss of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4 / 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4 / 49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1 · IMMERSION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828800" cy="320040"/>
          </a:xfrm>
          <a:prstGeom prst="roundRect">
            <a:avLst>
              <a:gd name="adj" fmla="val 10000"/>
            </a:avLst>
          </a:prstGeom>
          <a:solidFill>
            <a:srgbClr val="E6FAF6"/>
          </a:solidFill>
          <a:ln w="12700">
            <a:solidFill>
              <a:srgbClr val="9E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9D8A"/>
                </a:solidFill>
                <a:latin typeface="Calibri"/>
              </a:rPr>
              <a:t>LIVE · HANDS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3A66"/>
                </a:solidFill>
                <a:latin typeface="Calibri"/>
              </a:rPr>
              <a:t>How many of your patients live in a body that never gets an all-clear?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B82"/>
                </a:solidFill>
                <a:latin typeface="Calibri"/>
              </a:rPr>
              <a:t>Hold 5–8 seconds. Don’t fill the silence yet.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Transfer the feeling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5 / 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5 / 49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1 · IMMERSION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THE 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3A66"/>
                </a:solidFill>
                <a:latin typeface="Calibri"/>
              </a:rPr>
              <a:t>The worst part isn’t the first fire.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B82"/>
                </a:solidFill>
                <a:latin typeface="Calibri"/>
              </a:rPr>
              <a:t>It’s realizing the system that once saved you no longer knows how to stand down.
Protective inflammation becomes destructive when it cannot resolve — and begins rewriting the house settings.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Bridge to recognition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6 / 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6 / 49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2 · RECOGNITION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FAMILIAR PATIENT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43A66"/>
                </a:solidFill>
                <a:latin typeface="Calibri"/>
              </a:rPr>
              <a:t>You’ve seen this patient.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B82"/>
                </a:solidFill>
                <a:latin typeface="Calibri"/>
              </a:rPr>
              <a:t>Not just “dirty mouth.” A host running hot.
Bleeding that returns. Sites that don’t calm. A body that never seems to get an all-clear.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Clinical recognition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7 / 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7 / 49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2 · RECOGNITION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REFRAME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43A66"/>
                </a:solidFill>
                <a:latin typeface="Calibri"/>
              </a:rPr>
              <a:t>We treat sites.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B82"/>
                </a:solidFill>
                <a:latin typeface="Calibri"/>
              </a:rPr>
              <a:t>The host is running a program.
Correlation with systemic disease is familiar. The path is what most dentists still can’t explain.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Problem we solve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8 / 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8 / 49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2 · RECOGNITION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CUP ANALOGY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3A66"/>
                </a:solidFill>
                <a:latin typeface="Calibri"/>
              </a:rPr>
              <a:t>The body is a cup. Inflammation is the water.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262128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/>
            <a:r>
              <a:rPr sz="1600" b="1">
                <a:solidFill>
                  <a:srgbClr val="143A66"/>
                </a:solidFill>
                <a:latin typeface="Calibri"/>
              </a:rPr>
              <a:t>Trickles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B6B82"/>
                </a:solidFill>
                <a:latin typeface="Calibri"/>
              </a:rPr>
              <a:t>Stress, diet, sleep debt, toxins, illness, metabolic strain.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61360" y="2194560"/>
            <a:ext cx="2621280" cy="1828800"/>
          </a:xfrm>
          <a:prstGeom prst="roundRect">
            <a:avLst>
              <a:gd name="adj" fmla="val 10000"/>
            </a:avLst>
          </a:prstGeom>
          <a:solidFill>
            <a:srgbClr val="FFEFEC"/>
          </a:solidFill>
          <a:ln w="1270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/>
            <a:r>
              <a:rPr sz="1600" b="1">
                <a:solidFill>
                  <a:srgbClr val="143A66"/>
                </a:solidFill>
                <a:latin typeface="Calibri"/>
              </a:rPr>
              <a:t>The hose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B6B82"/>
                </a:solidFill>
                <a:latin typeface="Calibri"/>
              </a:rPr>
              <a:t>Uncontrolled periodontal disease — continuous, aggressive, often never fully off.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65520" y="2194560"/>
            <a:ext cx="2621280" cy="1828800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/>
            <a:r>
              <a:rPr sz="1600" b="1">
                <a:solidFill>
                  <a:srgbClr val="143A66"/>
                </a:solidFill>
                <a:latin typeface="Calibri"/>
              </a:rPr>
              <a:t>Overflow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B6B82"/>
                </a:solidFill>
                <a:latin typeface="Calibri"/>
              </a:rPr>
              <a:t>Gene programs shift. Disease biology accelerates.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Load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9 / 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9 / 49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2 · RECOGNITION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WHY PRIORITIZE PERIO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3A66"/>
                </a:solidFill>
                <a:latin typeface="Calibri"/>
              </a:rPr>
              <a:t>If the cup is already full… it doesn’t take much to overflow.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4023360" cy="1737360"/>
          </a:xfrm>
          <a:prstGeom prst="roundRect">
            <a:avLst>
              <a:gd name="adj" fmla="val 10000"/>
            </a:avLst>
          </a:prstGeom>
          <a:solidFill>
            <a:srgbClr val="E6FAF6"/>
          </a:solidFill>
          <a:ln w="1270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/>
            <a:r>
              <a:rPr sz="1600" b="1">
                <a:solidFill>
                  <a:srgbClr val="143A66"/>
                </a:solidFill>
                <a:latin typeface="Calibri"/>
              </a:rPr>
              <a:t>We can turn the hose down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B6B82"/>
                </a:solidFill>
                <a:latin typeface="Calibri"/>
              </a:rPr>
              <a:t>Periodontal care is an accessible load-reduction lever.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2286000"/>
            <a:ext cx="402336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/>
            <a:r>
              <a:rPr sz="1600" b="1">
                <a:solidFill>
                  <a:srgbClr val="143A66"/>
                </a:solidFill>
                <a:latin typeface="Calibri"/>
              </a:rPr>
              <a:t>High continuous impact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B6B82"/>
                </a:solidFill>
                <a:latin typeface="Calibri"/>
              </a:rPr>
              <a:t>Perio is one of the most common ongoing sources of chronic inflammatory load.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Contribution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10 / 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10 / 49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2 · RECOGNITION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2011680" cy="320040"/>
          </a:xfrm>
          <a:prstGeom prst="roundRect">
            <a:avLst>
              <a:gd name="adj" fmla="val 10000"/>
            </a:avLst>
          </a:prstGeom>
          <a:solidFill>
            <a:srgbClr val="E6FAF6"/>
          </a:solidFill>
          <a:ln w="12700">
            <a:solidFill>
              <a:srgbClr val="9E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9D8A"/>
                </a:solidFill>
                <a:latin typeface="Calibri"/>
              </a:rPr>
              <a:t>LIVE · 10-SEC THINK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3A66"/>
                </a:solidFill>
                <a:latin typeface="Calibri"/>
              </a:rPr>
              <a:t>Where else do you see “stuck ON” biology in your patients?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B82"/>
                </a:solidFill>
                <a:latin typeface="Calibri"/>
              </a:rPr>
              <a:t>Diabetes. Hypertension. Vascular disease. Healing that won’t finish.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Room activation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11 / 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11 / 49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2 · RECOGNITION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43A66"/>
                </a:solidFill>
                <a:latin typeface="Calibri"/>
              </a:rPr>
              <a:t>Tonight’s path: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B82"/>
                </a:solidFill>
                <a:latin typeface="Calibri"/>
              </a:rPr>
              <a:t>Chronic inflammation → nucleus → gene programs → disease biology.
Then the blades that program deploys — the MMP family — and why MMP-8 matters in the mouth.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Into Act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12 / 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12 / 49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3 ·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43A66"/>
                </a:solidFill>
                <a:latin typeface="Calibri"/>
              </a:rPr>
              <a:t>Correlation is not the missing piece.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B82"/>
                </a:solidFill>
                <a:latin typeface="Calibri"/>
              </a:rPr>
              <a:t>Most of you already know periodontitis associates with systemic disease.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Disease-first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13 / 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13 / 49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3 ·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43A66"/>
                </a:solidFill>
                <a:latin typeface="Calibri"/>
              </a:rPr>
              <a:t>The missing piece is the 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B82"/>
                </a:solidFill>
                <a:latin typeface="Calibri"/>
              </a:rPr>
              <a:t>What does chronic inflammation actually do inside cells?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Association → mechanism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14 / 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14 / 49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3 ·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43A66"/>
                </a:solidFill>
                <a:latin typeface="Calibri"/>
              </a:rPr>
              <a:t>Chronic inflammation changes what genes stay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B82"/>
                </a:solidFill>
                <a:latin typeface="Calibri"/>
              </a:rPr>
              <a:t>Not only swelling. Programming.
Callback: the alarm panel gets rewired.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Gene-expression pivot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15 / 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15 / 49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3 ·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MASTER PATH ·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3A66"/>
                </a:solidFill>
                <a:latin typeface="Calibri"/>
              </a:rPr>
              <a:t>The signal stays 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1954530" cy="1737360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9D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100" b="1">
                <a:solidFill>
                  <a:srgbClr val="1F6FEB"/>
                </a:solidFill>
                <a:latin typeface="Calibri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143A66"/>
                </a:solidFill>
                <a:latin typeface="Calibri"/>
              </a:rPr>
              <a:t>Non-resolving inflammatory signal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48890" y="2194560"/>
            <a:ext cx="195453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100" b="1">
                <a:solidFill>
                  <a:srgbClr val="1F6FEB"/>
                </a:solidFill>
                <a:latin typeface="Calibri"/>
              </a:rPr>
              <a:t>02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B6B82"/>
                </a:solidFill>
                <a:latin typeface="Calibri"/>
              </a:rPr>
              <a:t>Cytokine networks keep deploying (IL-6 among amplifiers)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40580" y="2194560"/>
            <a:ext cx="195453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100" b="1">
                <a:solidFill>
                  <a:srgbClr val="1F6FEB"/>
                </a:solidFill>
                <a:latin typeface="Calibri"/>
              </a:rPr>
              <a:t>03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B6B82"/>
                </a:solidFill>
                <a:latin typeface="Calibri"/>
              </a:rPr>
              <a:t>JAK → STAT3 (and related circuits) to the nucleus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32270" y="2194560"/>
            <a:ext cx="195453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100" b="1">
                <a:solidFill>
                  <a:srgbClr val="1F6FEB"/>
                </a:solidFill>
                <a:latin typeface="Calibri"/>
              </a:rPr>
              <a:t>04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B6B82"/>
                </a:solidFill>
                <a:latin typeface="Calibri"/>
              </a:rPr>
              <a:t>Different proteins get made. Cell behavior changes.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Build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16 / 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16 / 49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3 ·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MASTER PATH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3A66"/>
                </a:solidFill>
                <a:latin typeface="Calibri"/>
              </a:rPr>
              <a:t>Cascades fire repeatedly.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1954530" cy="1737360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9D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100" b="1">
                <a:solidFill>
                  <a:srgbClr val="1F6FEB"/>
                </a:solidFill>
                <a:latin typeface="Calibri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143A66"/>
                </a:solidFill>
                <a:latin typeface="Calibri"/>
              </a:rPr>
              <a:t>Non-resolving inflammatory signal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48890" y="2194560"/>
            <a:ext cx="1954530" cy="1737360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9D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100" b="1">
                <a:solidFill>
                  <a:srgbClr val="1F6FEB"/>
                </a:solidFill>
                <a:latin typeface="Calibri"/>
              </a:rPr>
              <a:t>02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143A66"/>
                </a:solidFill>
                <a:latin typeface="Calibri"/>
              </a:rPr>
              <a:t>Cytokine networks keep deploying (IL-6 among amplifiers)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40580" y="2194560"/>
            <a:ext cx="195453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100" b="1">
                <a:solidFill>
                  <a:srgbClr val="1F6FEB"/>
                </a:solidFill>
                <a:latin typeface="Calibri"/>
              </a:rPr>
              <a:t>03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B6B82"/>
                </a:solidFill>
                <a:latin typeface="Calibri"/>
              </a:rPr>
              <a:t>JAK → STAT3 (and related circuits) to the nucleus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32270" y="2194560"/>
            <a:ext cx="195453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100" b="1">
                <a:solidFill>
                  <a:srgbClr val="1F6FEB"/>
                </a:solidFill>
                <a:latin typeface="Calibri"/>
              </a:rPr>
              <a:t>04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B6B82"/>
                </a:solidFill>
                <a:latin typeface="Calibri"/>
              </a:rPr>
              <a:t>Different proteins get made. Cell behavior changes.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Build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17 / 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17 / 49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3 ·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MASTER PATH ·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3A66"/>
                </a:solidFill>
                <a:latin typeface="Calibri"/>
              </a:rPr>
              <a:t>Into the nucleus.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1954530" cy="1737360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9D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100" b="1">
                <a:solidFill>
                  <a:srgbClr val="1F6FEB"/>
                </a:solidFill>
                <a:latin typeface="Calibri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143A66"/>
                </a:solidFill>
                <a:latin typeface="Calibri"/>
              </a:rPr>
              <a:t>Non-resolving inflammatory signal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48890" y="2194560"/>
            <a:ext cx="1954530" cy="1737360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9D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100" b="1">
                <a:solidFill>
                  <a:srgbClr val="1F6FEB"/>
                </a:solidFill>
                <a:latin typeface="Calibri"/>
              </a:rPr>
              <a:t>02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143A66"/>
                </a:solidFill>
                <a:latin typeface="Calibri"/>
              </a:rPr>
              <a:t>Cytokine networks keep deploying (IL-6 among amplifiers)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40580" y="2194560"/>
            <a:ext cx="1954530" cy="1737360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9D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100" b="1">
                <a:solidFill>
                  <a:srgbClr val="1F6FEB"/>
                </a:solidFill>
                <a:latin typeface="Calibri"/>
              </a:rPr>
              <a:t>03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143A66"/>
                </a:solidFill>
                <a:latin typeface="Calibri"/>
              </a:rPr>
              <a:t>JAK → STAT3 (and related circuits) to the nucleus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32270" y="2194560"/>
            <a:ext cx="195453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100" b="1">
                <a:solidFill>
                  <a:srgbClr val="1F6FEB"/>
                </a:solidFill>
                <a:latin typeface="Calibri"/>
              </a:rPr>
              <a:t>04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B6B82"/>
                </a:solidFill>
                <a:latin typeface="Calibri"/>
              </a:rPr>
              <a:t>Different proteins get made. Cell behavior changes.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Build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18 / 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18 / 49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3 ·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MASTER PATH ·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3A66"/>
                </a:solidFill>
                <a:latin typeface="Calibri"/>
              </a:rPr>
              <a:t>Gene expression changes.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1954530" cy="1737360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9D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100" b="1">
                <a:solidFill>
                  <a:srgbClr val="1F6FEB"/>
                </a:solidFill>
                <a:latin typeface="Calibri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143A66"/>
                </a:solidFill>
                <a:latin typeface="Calibri"/>
              </a:rPr>
              <a:t>Non-resolving inflammatory signal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48890" y="2194560"/>
            <a:ext cx="1954530" cy="1737360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9D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100" b="1">
                <a:solidFill>
                  <a:srgbClr val="1F6FEB"/>
                </a:solidFill>
                <a:latin typeface="Calibri"/>
              </a:rPr>
              <a:t>02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143A66"/>
                </a:solidFill>
                <a:latin typeface="Calibri"/>
              </a:rPr>
              <a:t>Cytokine networks keep deploying (IL-6 among amplifiers)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40580" y="2194560"/>
            <a:ext cx="1954530" cy="1737360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9D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100" b="1">
                <a:solidFill>
                  <a:srgbClr val="1F6FEB"/>
                </a:solidFill>
                <a:latin typeface="Calibri"/>
              </a:rPr>
              <a:t>03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143A66"/>
                </a:solidFill>
                <a:latin typeface="Calibri"/>
              </a:rPr>
              <a:t>JAK → STAT3 (and related circuits) to the nucleus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32270" y="2194560"/>
            <a:ext cx="1954530" cy="1737360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9D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100" b="1">
                <a:solidFill>
                  <a:srgbClr val="1F6FEB"/>
                </a:solidFill>
                <a:latin typeface="Calibri"/>
              </a:rPr>
              <a:t>04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143A66"/>
                </a:solidFill>
                <a:latin typeface="Calibri"/>
              </a:rPr>
              <a:t>Different proteins get made. Cell behavior changes.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Build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19 / 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19 / 49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3 ·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GALLERY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3A66"/>
                </a:solidFill>
                <a:latin typeface="Calibri"/>
              </a:rPr>
              <a:t>Same system. Different organs. Different diseases.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B82"/>
                </a:solidFill>
                <a:latin typeface="Calibri"/>
              </a:rPr>
              <a:t>Watch one path land in places you already see every week.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Multi-organ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20 / 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20 / 49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3 · DISEASES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GALLERY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43A66"/>
                </a:solidFill>
                <a:latin typeface="Calibri"/>
              </a:rPr>
              <a:t>Not separate mysteries.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B82"/>
                </a:solidFill>
                <a:latin typeface="Calibri"/>
              </a:rPr>
              <a:t>Shared chronic inflammatory programming — expressed differently by tissue.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51760"/>
            <a:ext cx="265176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7C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43A66"/>
                </a:solidFill>
                <a:latin typeface="Calibri"/>
              </a:rPr>
              <a:t>Diabetes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2651760"/>
            <a:ext cx="265176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7C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43A66"/>
                </a:solidFill>
                <a:latin typeface="Calibri"/>
              </a:rPr>
              <a:t>Atherosclerosis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651760"/>
            <a:ext cx="265176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7C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43A66"/>
                </a:solidFill>
                <a:latin typeface="Calibri"/>
              </a:rPr>
              <a:t>Blood pressure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91839"/>
            <a:ext cx="265176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7C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43A66"/>
                </a:solidFill>
                <a:latin typeface="Calibri"/>
              </a:rPr>
              <a:t>Stroke risk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3291839"/>
            <a:ext cx="265176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7C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43A66"/>
                </a:solidFill>
                <a:latin typeface="Calibri"/>
              </a:rPr>
              <a:t>Cancer niche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291839"/>
            <a:ext cx="265176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7C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43A66"/>
                </a:solidFill>
                <a:latin typeface="Calibri"/>
              </a:rPr>
              <a:t>Brain barrier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Disease 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21 / 49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21 / 49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3 · DIABETES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LEAD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43A66"/>
                </a:solidFill>
                <a:latin typeface="Calibri"/>
              </a:rPr>
              <a:t>Insulin is knocking.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B82"/>
                </a:solidFill>
                <a:latin typeface="Calibri"/>
              </a:rPr>
              <a:t>The door still exists — but it works worse.
Inflammation doesn’t only raise sugar in the hallway. It changes the lock.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Diabetes open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22 / 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22 / 49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3 · DIABETES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3A66"/>
                </a:solidFill>
                <a:latin typeface="Calibri"/>
              </a:rPr>
              <a:t>Gene programs change insulin response.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4023360" cy="1828800"/>
          </a:xfrm>
          <a:prstGeom prst="roundRect">
            <a:avLst>
              <a:gd name="adj" fmla="val 10000"/>
            </a:avLst>
          </a:prstGeom>
          <a:solidFill>
            <a:srgbClr val="FFEFEC"/>
          </a:solidFill>
          <a:ln w="1270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/>
            <a:r>
              <a:rPr sz="1600" b="1">
                <a:solidFill>
                  <a:srgbClr val="143A66"/>
                </a:solidFill>
                <a:latin typeface="Calibri"/>
              </a:rPr>
              <a:t>What shifts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B6B82"/>
                </a:solidFill>
                <a:latin typeface="Calibri"/>
              </a:rPr>
              <a:t>Inflammatory signaling alters how effectively insulin-related machinery works on and inside cells.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2103120"/>
            <a:ext cx="4023360" cy="1828800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/>
            <a:r>
              <a:rPr sz="1600" b="1">
                <a:solidFill>
                  <a:srgbClr val="143A66"/>
                </a:solidFill>
                <a:latin typeface="Calibri"/>
              </a:rPr>
              <a:t>What you get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B6B82"/>
                </a:solidFill>
                <a:latin typeface="Calibri"/>
              </a:rPr>
              <a:t>Poorer response to insulin. Weaker glucose handling. Inflammation-associated insulin resistance.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Diabetes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23 / 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23 / 49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3 · VESSELS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BLOOD PRESSURE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3A66"/>
                </a:solidFill>
                <a:latin typeface="Calibri"/>
              </a:rPr>
              <a:t>Two levers. One direction.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4023360" cy="1645920"/>
          </a:xfrm>
          <a:prstGeom prst="roundRect">
            <a:avLst>
              <a:gd name="adj" fmla="val 10000"/>
            </a:avLst>
          </a:prstGeom>
          <a:solidFill>
            <a:srgbClr val="FFEFEC"/>
          </a:solidFill>
          <a:ln w="1270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/>
            <a:r>
              <a:rPr sz="1600" b="1">
                <a:solidFill>
                  <a:srgbClr val="143A66"/>
                </a:solidFill>
                <a:latin typeface="Calibri"/>
              </a:rPr>
              <a:t>↑ Angiotensin II biology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B6B82"/>
                </a:solidFill>
                <a:latin typeface="Calibri"/>
              </a:rPr>
              <a:t>Pressor / constrictive signaling tone rises in inflamed vascular environments.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2011680"/>
            <a:ext cx="4023360" cy="1645920"/>
          </a:xfrm>
          <a:prstGeom prst="roundRect">
            <a:avLst>
              <a:gd name="adj" fmla="val 10000"/>
            </a:avLst>
          </a:prstGeom>
          <a:solidFill>
            <a:srgbClr val="FFEFEC"/>
          </a:solidFill>
          <a:ln w="1270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/>
            <a:r>
              <a:rPr sz="1600" b="1">
                <a:solidFill>
                  <a:srgbClr val="143A66"/>
                </a:solidFill>
                <a:latin typeface="Calibri"/>
              </a:rPr>
              <a:t>↓ Nitric oxide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B6B82"/>
                </a:solidFill>
                <a:latin typeface="Calibri"/>
              </a:rPr>
              <a:t>Less effective vasorelaxant signaling. Endothelium loses flexibility.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5D4C"/>
                </a:solidFill>
                <a:latin typeface="Calibri"/>
              </a:rPr>
              <a:t>Net tendency: higher blood pressure physiology.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BP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24 / 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24 / 49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3 · VESSELS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ATHEROSCLEROSIS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3A66"/>
                </a:solidFill>
                <a:latin typeface="Calibri"/>
              </a:rPr>
              <a:t>Atherosclerosis is the main stage.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B82"/>
                </a:solidFill>
                <a:latin typeface="Calibri"/>
              </a:rPr>
              <a:t>Chronic inflammatory biology fuels plaque formation and instability.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4023360" cy="1554480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/>
            <a:r>
              <a:rPr sz="1600" b="1">
                <a:solidFill>
                  <a:srgbClr val="143A66"/>
                </a:solidFill>
                <a:latin typeface="Calibri"/>
              </a:rPr>
              <a:t>Inflamed vessel wall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B6B82"/>
                </a:solidFill>
                <a:latin typeface="Calibri"/>
              </a:rPr>
              <a:t>Endothelial stress, adhesion programs, immune cell recruitment.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377440"/>
            <a:ext cx="4023360" cy="1554480"/>
          </a:xfrm>
          <a:prstGeom prst="roundRect">
            <a:avLst>
              <a:gd name="adj" fmla="val 10000"/>
            </a:avLst>
          </a:prstGeom>
          <a:solidFill>
            <a:srgbClr val="FFEFEC"/>
          </a:solidFill>
          <a:ln w="1270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/>
            <a:r>
              <a:rPr sz="1600" b="1">
                <a:solidFill>
                  <a:srgbClr val="143A66"/>
                </a:solidFill>
                <a:latin typeface="Calibri"/>
              </a:rPr>
              <a:t>Matrix remodeling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B6B82"/>
                </a:solidFill>
                <a:latin typeface="Calibri"/>
              </a:rPr>
              <a:t>MMPs can soften / remodel plaque structure — raising rupture and embolic risk.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Athero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25 / 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25 / 49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3 · VESSELS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STROKE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3A66"/>
                </a:solidFill>
                <a:latin typeface="Calibri"/>
              </a:rPr>
              <a:t>Stroke biology often plays on that stage.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B82"/>
                </a:solidFill>
                <a:latin typeface="Calibri"/>
              </a:rPr>
              <a:t>Destabilized atherosclerotic disease is a common pathway neighborhood for ischemic events.
Same non-resolving inflammatory program. Higher stakes downstream.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Stroke via athero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26 / 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26 / 49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3 · CANCER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WRONG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43A66"/>
                </a:solidFill>
                <a:latin typeface="Calibri"/>
              </a:rPr>
              <a:t>Wrong question.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B6B82"/>
                </a:solidFill>
                <a:latin typeface="Calibri"/>
              </a:rPr>
              <a:t>“Did perio start the cancer?”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B82"/>
                </a:solidFill>
                <a:latin typeface="Calibri"/>
              </a:rPr>
              <a:t>Right question: “What environment helps cancer thrive?”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Cancer frame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27 / 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27 / 49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3 · CANCER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NICHE FAVORS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3A66"/>
                </a:solidFill>
                <a:latin typeface="Calibri"/>
              </a:rPr>
              <a:t>Chronic inflammation tilts the terrain.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2621280" cy="1737360"/>
          </a:xfrm>
          <a:prstGeom prst="roundRect">
            <a:avLst>
              <a:gd name="adj" fmla="val 10000"/>
            </a:avLst>
          </a:prstGeom>
          <a:solidFill>
            <a:srgbClr val="FFEFEC"/>
          </a:solidFill>
          <a:ln w="1270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/>
            <a:r>
              <a:rPr sz="1600" b="1">
                <a:solidFill>
                  <a:srgbClr val="143A66"/>
                </a:solidFill>
                <a:latin typeface="Calibri"/>
              </a:rPr>
              <a:t>Apoptosis ↓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B6B82"/>
                </a:solidFill>
                <a:latin typeface="Calibri"/>
              </a:rPr>
              <a:t>Damaged cells harder to clear.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61360" y="2103120"/>
            <a:ext cx="2621280" cy="1737360"/>
          </a:xfrm>
          <a:prstGeom prst="roundRect">
            <a:avLst>
              <a:gd name="adj" fmla="val 10000"/>
            </a:avLst>
          </a:prstGeom>
          <a:solidFill>
            <a:srgbClr val="FFEFEC"/>
          </a:solidFill>
          <a:ln w="1270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/>
            <a:r>
              <a:rPr sz="1600" b="1">
                <a:solidFill>
                  <a:srgbClr val="143A66"/>
                </a:solidFill>
                <a:latin typeface="Calibri"/>
              </a:rPr>
              <a:t>Angiogenesis ↑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B6B82"/>
                </a:solidFill>
                <a:latin typeface="Calibri"/>
              </a:rPr>
              <a:t>Blood supply support expands.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65520" y="2103120"/>
            <a:ext cx="2621280" cy="1737360"/>
          </a:xfrm>
          <a:prstGeom prst="roundRect">
            <a:avLst>
              <a:gd name="adj" fmla="val 10000"/>
            </a:avLst>
          </a:prstGeom>
          <a:solidFill>
            <a:srgbClr val="FFEFEC"/>
          </a:solidFill>
          <a:ln w="1270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/>
            <a:r>
              <a:rPr sz="1600" b="1">
                <a:solidFill>
                  <a:srgbClr val="143A66"/>
                </a:solidFill>
                <a:latin typeface="Calibri"/>
              </a:rPr>
              <a:t>Matrix remodeling ↑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B6B82"/>
                </a:solidFill>
                <a:latin typeface="Calibri"/>
              </a:rPr>
              <a:t>Barriers soften — invasion-friendly.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Cancer progression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28 / 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28 / 49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3 · CANCER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43A66"/>
                </a:solidFill>
                <a:latin typeface="Calibri"/>
              </a:rPr>
              <a:t>The niche can feed itself.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B82"/>
                </a:solidFill>
                <a:latin typeface="Calibri"/>
              </a:rPr>
              <a:t>Inflammatory circuits — including IL-6-rich tone — can reinforce the environment that helps malignant biology persist.
Chronic inflammation doesn’t just visit the neighborhood. It remodels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Self-reinforcing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29 / 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29 / 49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3 · BRAIN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BBB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43A66"/>
                </a:solidFill>
                <a:latin typeface="Calibri"/>
              </a:rPr>
              <a:t>The brain has a border wall.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B82"/>
                </a:solidFill>
                <a:latin typeface="Calibri"/>
              </a:rPr>
              <a:t>The blood–brain barrier decides what gets through.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BBB open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30 / 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30 / 49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3 · BRAIN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JUNCTIONS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43A66"/>
                </a:solidFill>
                <a:latin typeface="Calibri"/>
              </a:rPr>
              <a:t>Chronic inflammation stresses the wall.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B82"/>
                </a:solidFill>
                <a:latin typeface="Calibri"/>
              </a:rPr>
              <a:t>Junction biology weakens. The border becomes less selective.
Mechanistic correlation path — not a claim that perio diagnoses Alzheimer’s.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Junctions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31 / 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31 / 49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3 · BRAIN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MMP-9 CAMEO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3A66"/>
                </a:solidFill>
                <a:latin typeface="Calibri"/>
              </a:rPr>
              <a:t>MMP-9 helps open the gate.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402336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/>
            <a:r>
              <a:rPr sz="1600" b="1">
                <a:solidFill>
                  <a:srgbClr val="143A66"/>
                </a:solidFill>
                <a:latin typeface="Calibri"/>
              </a:rPr>
              <a:t>Barrier matrix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B6B82"/>
                </a:solidFill>
                <a:latin typeface="Calibri"/>
              </a:rPr>
              <a:t>MMP-9 can break down basement-membrane components that help keep the wall intact.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2103120"/>
            <a:ext cx="4023360" cy="1737360"/>
          </a:xfrm>
          <a:prstGeom prst="roundRect">
            <a:avLst>
              <a:gd name="adj" fmla="val 10000"/>
            </a:avLst>
          </a:prstGeom>
          <a:solidFill>
            <a:srgbClr val="FFEFEC"/>
          </a:solidFill>
          <a:ln w="1270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/>
            <a:r>
              <a:rPr sz="1600" b="1">
                <a:solidFill>
                  <a:srgbClr val="143A66"/>
                </a:solidFill>
                <a:latin typeface="Calibri"/>
              </a:rPr>
              <a:t>Result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B6B82"/>
                </a:solidFill>
                <a:latin typeface="Calibri"/>
              </a:rPr>
              <a:t>Increased permeability. More opportunity for inflammatory traffic into the CNS environment.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MMP-9 BBB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32 / 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32 / 49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3 · LIVE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645920" cy="320040"/>
          </a:xfrm>
          <a:prstGeom prst="roundRect">
            <a:avLst>
              <a:gd name="adj" fmla="val 10000"/>
            </a:avLst>
          </a:prstGeom>
          <a:solidFill>
            <a:srgbClr val="E6FAF6"/>
          </a:solidFill>
          <a:ln w="12700">
            <a:solidFill>
              <a:srgbClr val="9E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9D8A"/>
                </a:solidFill>
                <a:latin typeface="Calibri"/>
              </a:rPr>
              <a:t>LIVE ·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3A66"/>
                </a:solidFill>
                <a:latin typeface="Calibri"/>
              </a:rPr>
              <a:t>Different diseases. One question: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5D4C"/>
                </a:solidFill>
                <a:latin typeface="Calibri"/>
              </a:rPr>
              <a:t>What keeps the program 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Engagement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33 / 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33 / 49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3 · 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BLADES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43A66"/>
                </a:solidFill>
                <a:latin typeface="Calibri"/>
              </a:rPr>
              <a:t>Now look at the blades the program deploys.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B82"/>
                </a:solidFill>
                <a:latin typeface="Calibri"/>
              </a:rPr>
              <a:t>Matrix metalloproteinases — upregulated when inflammation won’t stand down.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To MMPs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34 / 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34 / 49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3 · MMPS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FAMILY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43A66"/>
                </a:solidFill>
                <a:latin typeface="Calibri"/>
              </a:rPr>
              <a:t>There is not only one MMP.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B82"/>
                </a:solidFill>
                <a:latin typeface="Calibri"/>
              </a:rPr>
              <a:t>If someone says “MMPs means MMP-8 only” — that’s the first error.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926080"/>
            <a:ext cx="155448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7C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43A66"/>
                </a:solidFill>
                <a:latin typeface="Calibri"/>
              </a:rPr>
              <a:t>MMP-8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48840" y="2926080"/>
            <a:ext cx="155448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7C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43A66"/>
                </a:solidFill>
                <a:latin typeface="Calibri"/>
              </a:rPr>
              <a:t>MMP-9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2926080"/>
            <a:ext cx="155448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7C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43A66"/>
                </a:solidFill>
                <a:latin typeface="Calibri"/>
              </a:rPr>
              <a:t>MMP-2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2120" y="2926080"/>
            <a:ext cx="155448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7C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43A66"/>
                </a:solidFill>
                <a:latin typeface="Calibri"/>
              </a:rPr>
              <a:t>MMP-13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2926080"/>
            <a:ext cx="155448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7C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43A66"/>
                </a:solidFill>
                <a:latin typeface="Calibri"/>
              </a:rPr>
              <a:t>…family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Multi-MMP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35 / 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35 / 49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3 · MMPS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UPREGULATION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3A66"/>
                </a:solidFill>
                <a:latin typeface="Calibri"/>
              </a:rPr>
              <a:t>Chronic inflammation turns the cutters up.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4023360" cy="1737360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/>
            <a:r>
              <a:rPr sz="1600" b="1">
                <a:solidFill>
                  <a:srgbClr val="143A66"/>
                </a:solidFill>
                <a:latin typeface="Calibri"/>
              </a:rPr>
              <a:t>Stuck-on signal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B6B82"/>
                </a:solidFill>
                <a:latin typeface="Calibri"/>
              </a:rPr>
              <a:t>Cytokine networks + nuclear programs stay active.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2194560"/>
            <a:ext cx="4023360" cy="1737360"/>
          </a:xfrm>
          <a:prstGeom prst="roundRect">
            <a:avLst>
              <a:gd name="adj" fmla="val 10000"/>
            </a:avLst>
          </a:prstGeom>
          <a:solidFill>
            <a:srgbClr val="FFEFEC"/>
          </a:solidFill>
          <a:ln w="1270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/>
            <a:r>
              <a:rPr sz="1600" b="1">
                <a:solidFill>
                  <a:srgbClr val="143A66"/>
                </a:solidFill>
                <a:latin typeface="Calibri"/>
              </a:rPr>
              <a:t>Effector upregulation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B6B82"/>
                </a:solidFill>
                <a:latin typeface="Calibri"/>
              </a:rPr>
              <a:t>MMP programs deploy harder and longer. More matrix remodeling.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Upregulation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36 / 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36 / 49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3 · MMPS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8 VS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3A66"/>
                </a:solidFill>
                <a:latin typeface="Calibri"/>
              </a:rPr>
              <a:t>Different jobs. Same war.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4023360" cy="2011680"/>
          </a:xfrm>
          <a:prstGeom prst="roundRect">
            <a:avLst>
              <a:gd name="adj" fmla="val 10000"/>
            </a:avLst>
          </a:prstGeom>
          <a:solidFill>
            <a:srgbClr val="E6FAF6"/>
          </a:solidFill>
          <a:ln w="1270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/>
            <a:r>
              <a:rPr sz="1600" b="1">
                <a:solidFill>
                  <a:srgbClr val="143A66"/>
                </a:solidFill>
                <a:latin typeface="Calibri"/>
              </a:rPr>
              <a:t>MMP-8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B6B82"/>
                </a:solidFill>
                <a:latin typeface="Calibri"/>
              </a:rPr>
              <a:t>Neutrophil collagenase. Cuts type I collagen. Central to periodontal soft-tissue destruction. Best operational oral activity story.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2011680"/>
            <a:ext cx="4023360" cy="2011680"/>
          </a:xfrm>
          <a:prstGeom prst="roundRect">
            <a:avLst>
              <a:gd name="adj" fmla="val 10000"/>
            </a:avLst>
          </a:prstGeom>
          <a:solidFill>
            <a:srgbClr val="FFEFEC"/>
          </a:solidFill>
          <a:ln w="1270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/>
            <a:r>
              <a:rPr sz="1600" b="1">
                <a:solidFill>
                  <a:srgbClr val="143A66"/>
                </a:solidFill>
                <a:latin typeface="Calibri"/>
              </a:rPr>
              <a:t>MMP-9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B6B82"/>
                </a:solidFill>
                <a:latin typeface="Calibri"/>
              </a:rPr>
              <a:t>Barrier/gelatinase biology. BBB + plaque-matrix remodeling narratives. Also common in perio.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8 vs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37 / 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37 / 49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3 · MMPS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WHY TEST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3A66"/>
                </a:solidFill>
                <a:latin typeface="Calibri"/>
              </a:rPr>
              <a:t>Specificity is the point.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2621280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/>
            <a:r>
              <a:rPr sz="1600" b="1">
                <a:solidFill>
                  <a:srgbClr val="143A66"/>
                </a:solidFill>
                <a:latin typeface="Calibri"/>
              </a:rPr>
              <a:t>Source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B6B82"/>
                </a:solidFill>
                <a:latin typeface="Calibri"/>
              </a:rPr>
              <a:t>Primarily neutrophil host response — relevant to bacterial immune war in the pocket.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61360" y="1920240"/>
            <a:ext cx="2621280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/>
            <a:r>
              <a:rPr sz="1600" b="1">
                <a:solidFill>
                  <a:srgbClr val="143A66"/>
                </a:solidFill>
                <a:latin typeface="Calibri"/>
              </a:rPr>
              <a:t>Crossover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B6B82"/>
                </a:solidFill>
                <a:latin typeface="Calibri"/>
              </a:rPr>
              <a:t>MMP-2/9 rise in many states — including exercise — so they’re poor sole oral activity readouts.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65520" y="1920240"/>
            <a:ext cx="2621280" cy="1920240"/>
          </a:xfrm>
          <a:prstGeom prst="roundRect">
            <a:avLst>
              <a:gd name="adj" fmla="val 10000"/>
            </a:avLst>
          </a:prstGeom>
          <a:solidFill>
            <a:srgbClr val="E6FAF6"/>
          </a:solidFill>
          <a:ln w="1270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/>
            <a:r>
              <a:rPr sz="1600" b="1">
                <a:solidFill>
                  <a:srgbClr val="143A66"/>
                </a:solidFill>
                <a:latin typeface="Calibri"/>
              </a:rPr>
              <a:t>aMMP-8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B6B82"/>
                </a:solidFill>
                <a:latin typeface="Calibri"/>
              </a:rPr>
              <a:t>More practical specificity for “is oral collagen-cutting activity on right now?”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Why MMP-8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38 / 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38 / 49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3 ·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HOSE + BLADES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3A66"/>
                </a:solidFill>
                <a:latin typeface="Calibri"/>
              </a:rPr>
              <a:t>The hose is on. The blades are 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4023360" cy="1737360"/>
          </a:xfrm>
          <a:prstGeom prst="roundRect">
            <a:avLst>
              <a:gd name="adj" fmla="val 10000"/>
            </a:avLst>
          </a:prstGeom>
          <a:solidFill>
            <a:srgbClr val="FFEFEC"/>
          </a:solidFill>
          <a:ln w="1270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/>
            <a:r>
              <a:rPr sz="1600" b="1">
                <a:solidFill>
                  <a:srgbClr val="143A66"/>
                </a:solidFill>
                <a:latin typeface="Calibri"/>
              </a:rPr>
              <a:t>In the mouth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B6B82"/>
                </a:solidFill>
                <a:latin typeface="Calibri"/>
              </a:rPr>
              <a:t>Host programs cut type I collagen. Attachment loss is effector biology — not bugs alone.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2194560"/>
            <a:ext cx="4023360" cy="1737360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/>
            <a:r>
              <a:rPr sz="1600" b="1">
                <a:solidFill>
                  <a:srgbClr val="143A66"/>
                </a:solidFill>
                <a:latin typeface="Calibri"/>
              </a:rPr>
              <a:t>In the body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B6B82"/>
                </a:solidFill>
                <a:latin typeface="Calibri"/>
              </a:rPr>
              <a:t>Same non-resolving load fills the cup — pushing gene programs that favor systemic disease biology.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Act 3 exit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39 / 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39 / 49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4 ·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DATA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43A66"/>
                </a:solidFill>
                <a:latin typeface="Calibri"/>
              </a:rPr>
              <a:t>Data, one spotlight at a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B82"/>
                </a:solidFill>
                <a:latin typeface="Calibri"/>
              </a:rPr>
              <a:t>Never dump a full busy graph first.
Dim the landscape → light one comparison → enlarge the words → then move 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Spotlight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40 / 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40 / 49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4 ·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AMMP-8 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43A66"/>
                </a:solidFill>
                <a:latin typeface="Calibri"/>
              </a:rPr>
              <a:t>Structure vs activity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402336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/>
            <a:r>
              <a:rPr sz="1600" b="1">
                <a:solidFill>
                  <a:srgbClr val="143A66"/>
                </a:solidFill>
                <a:latin typeface="Calibri"/>
              </a:rPr>
              <a:t>PD / CAL / radiographs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B6B82"/>
                </a:solidFill>
                <a:latin typeface="Calibri"/>
              </a:rPr>
              <a:t>Cumulative history — damage already done.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2103120"/>
            <a:ext cx="4023360" cy="1737360"/>
          </a:xfrm>
          <a:prstGeom prst="roundRect">
            <a:avLst>
              <a:gd name="adj" fmla="val 10000"/>
            </a:avLst>
          </a:prstGeom>
          <a:solidFill>
            <a:srgbClr val="E6FAF6"/>
          </a:solidFill>
          <a:ln w="1270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/>
            <a:r>
              <a:rPr sz="1600" b="1">
                <a:solidFill>
                  <a:srgbClr val="143A66"/>
                </a:solidFill>
                <a:latin typeface="Calibri"/>
              </a:rPr>
              <a:t>aMMP-8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B6B82"/>
                </a:solidFill>
                <a:latin typeface="Calibri"/>
              </a:rPr>
              <a:t>Nearer to current collagen-cutting activity — is the program on now?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Activity marker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41 / 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41 / 49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4 ·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3A66"/>
                </a:solidFill>
                <a:latin typeface="Calibri"/>
              </a:rPr>
              <a:t>Oral aMMP-8 interpretation ladder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621280" cy="1828800"/>
          </a:xfrm>
          <a:prstGeom prst="roundRect">
            <a:avLst>
              <a:gd name="adj" fmla="val 10000"/>
            </a:avLst>
          </a:prstGeom>
          <a:solidFill>
            <a:srgbClr val="E6FAF6"/>
          </a:solidFill>
          <a:ln w="1270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/>
            <a:r>
              <a:rPr sz="1600" b="1">
                <a:solidFill>
                  <a:srgbClr val="143A66"/>
                </a:solidFill>
                <a:latin typeface="Calibri"/>
              </a:rPr>
              <a:t>Elevated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B6B82"/>
                </a:solidFill>
                <a:latin typeface="Calibri"/>
              </a:rPr>
              <a:t>Host cascade in play — treat and reassess.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61360" y="2011680"/>
            <a:ext cx="262128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/>
            <a:r>
              <a:rPr sz="1600" b="1">
                <a:solidFill>
                  <a:srgbClr val="143A66"/>
                </a:solidFill>
                <a:latin typeface="Calibri"/>
              </a:rPr>
              <a:t>Local first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B6B82"/>
                </a:solidFill>
                <a:latin typeface="Calibri"/>
              </a:rPr>
              <a:t>Mouth disease usually drives oral fluid signal.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65520" y="2011680"/>
            <a:ext cx="2621280" cy="1828800"/>
          </a:xfrm>
          <a:prstGeom prst="roundRect">
            <a:avLst>
              <a:gd name="adj" fmla="val 10000"/>
            </a:avLst>
          </a:prstGeom>
          <a:solidFill>
            <a:srgbClr val="FFEFEC"/>
          </a:solidFill>
          <a:ln w="1270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/>
            <a:r>
              <a:rPr sz="1600" b="1">
                <a:solidFill>
                  <a:srgbClr val="143A66"/>
                </a:solidFill>
                <a:latin typeface="Calibri"/>
              </a:rPr>
              <a:t>Won’t fall after care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B6B82"/>
                </a:solidFill>
                <a:latin typeface="Calibri"/>
              </a:rPr>
              <a:t>Widen the lens: cup may still be full from other sources.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Clinical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42 / 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42 / 49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4 ·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SYSTEMIC MARKERS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3A66"/>
                </a:solidFill>
                <a:latin typeface="Calibri"/>
              </a:rPr>
              <a:t>Systemic inflammatory residual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B82"/>
                </a:solidFill>
                <a:latin typeface="Calibri"/>
              </a:rPr>
              <a:t>Markers like hs-CRP associate with future vascular events.
Anti-inflammatory residual-risk trials (e.g. CANTOS, IL-1β) support inflammation biology — not that the mouth alone causes MI.
Use for plausibility of shared inflammatory programs, not overclaim.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Systemic proof careful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43 / 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43 / 49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4 · PROOF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645920" cy="320040"/>
          </a:xfrm>
          <a:prstGeom prst="roundRect">
            <a:avLst>
              <a:gd name="adj" fmla="val 10000"/>
            </a:avLst>
          </a:prstGeom>
          <a:solidFill>
            <a:srgbClr val="E6FAF6"/>
          </a:solidFill>
          <a:ln w="12700">
            <a:solidFill>
              <a:srgbClr val="9E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9D8A"/>
                </a:solidFill>
                <a:latin typeface="Calibri"/>
              </a:rPr>
              <a:t>LIVE · HANDS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3A66"/>
                </a:solidFill>
                <a:latin typeface="Calibri"/>
              </a:rPr>
              <a:t>Who will change one explanation to patients this week?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B82"/>
                </a:solidFill>
                <a:latin typeface="Calibri"/>
              </a:rPr>
              <a:t>From “just bacteria” → “host program + inflammatory load.”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Buy-in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44 / 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44 / 49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5 ·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43A66"/>
                </a:solidFill>
                <a:latin typeface="Calibri"/>
              </a:rPr>
              <a:t>Monday language shift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402336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/>
            <a:r>
              <a:rPr sz="1600" b="1">
                <a:solidFill>
                  <a:srgbClr val="143A66"/>
                </a:solidFill>
                <a:latin typeface="Calibri"/>
              </a:rPr>
              <a:t>From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B6B82"/>
                </a:solidFill>
                <a:latin typeface="Calibri"/>
              </a:rPr>
              <a:t>“You have germs under the gum.”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2103120"/>
            <a:ext cx="4023360" cy="1828800"/>
          </a:xfrm>
          <a:prstGeom prst="roundRect">
            <a:avLst>
              <a:gd name="adj" fmla="val 10000"/>
            </a:avLst>
          </a:prstGeom>
          <a:solidFill>
            <a:srgbClr val="E6FAF6"/>
          </a:solidFill>
          <a:ln w="1270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/>
            <a:r>
              <a:rPr sz="1600" b="1">
                <a:solidFill>
                  <a:srgbClr val="143A66"/>
                </a:solidFill>
                <a:latin typeface="Calibri"/>
              </a:rPr>
              <a:t>To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B6B82"/>
                </a:solidFill>
                <a:latin typeface="Calibri"/>
              </a:rPr>
              <a:t>“Your immune system is stuck on — and it’s cutting the collagen that holds the tooth while adding to whole-body inflammatory load.”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Words that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45 / 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45 / 49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5 ·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PRIORITIZE THE HOSE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A66"/>
                </a:solidFill>
                <a:latin typeface="Calibri"/>
              </a:rPr>
              <a:t>Reduce all sources. Prioritize what we can turn down hard.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62128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/>
            <a:r>
              <a:rPr sz="1600" b="1">
                <a:solidFill>
                  <a:srgbClr val="143A66"/>
                </a:solidFill>
                <a:latin typeface="Calibri"/>
              </a:rPr>
              <a:t>Identify load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B6B82"/>
                </a:solidFill>
                <a:latin typeface="Calibri"/>
              </a:rPr>
              <a:t>Cup model: trickles + hose.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61360" y="2011680"/>
            <a:ext cx="2621280" cy="1828800"/>
          </a:xfrm>
          <a:prstGeom prst="roundRect">
            <a:avLst>
              <a:gd name="adj" fmla="val 10000"/>
            </a:avLst>
          </a:prstGeom>
          <a:solidFill>
            <a:srgbClr val="E6FAF6"/>
          </a:solidFill>
          <a:ln w="1270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/>
            <a:r>
              <a:rPr sz="1600" b="1">
                <a:solidFill>
                  <a:srgbClr val="143A66"/>
                </a:solidFill>
                <a:latin typeface="Calibri"/>
              </a:rPr>
              <a:t>Treat perio aggressively enough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B6B82"/>
                </a:solidFill>
                <a:latin typeface="Calibri"/>
              </a:rPr>
              <a:t>Because continuous inflammation rewrites programs.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65520" y="2011680"/>
            <a:ext cx="2621280" cy="1828800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/>
            <a:r>
              <a:rPr sz="1600" b="1">
                <a:solidFill>
                  <a:srgbClr val="143A66"/>
                </a:solidFill>
                <a:latin typeface="Calibri"/>
              </a:rPr>
              <a:t>Collaborate medically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B6B82"/>
                </a:solidFill>
                <a:latin typeface="Calibri"/>
              </a:rPr>
              <a:t>Contribution framing for diabetes, vascular risk, high host tone.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Action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46 / 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46 / 49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5 ·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AMMP-8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43A66"/>
                </a:solidFill>
                <a:latin typeface="Calibri"/>
              </a:rPr>
              <a:t>Optional adjunct — not a gimmick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B82"/>
                </a:solidFill>
                <a:latin typeface="Calibri"/>
              </a:rPr>
              <a:t>Use activity information to support risk conversation, response monitoring, and host-phenotype thinking.
Fair diagnostic accuracy as POCT; full exam still rules.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Tool humility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47 / 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47 / 49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5 ·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3A66"/>
                </a:solidFill>
                <a:latin typeface="Calibri"/>
              </a:rPr>
              <a:t>The alarm that wouldn’t stand down… rewrites the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B82"/>
                </a:solidFill>
                <a:latin typeface="Calibri"/>
              </a:rPr>
              <a:t>Chronic inflammation changes gene expression. Periodontitis is one of the most common hoses filling the cup. Now you can explain the path.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Final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48 / 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48 / 49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B7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6FEB"/>
                </a:solidFill>
                <a:latin typeface="Calibri"/>
              </a:rPr>
              <a:t>ACT 5 ·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OPEN FLOOR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43A66"/>
                </a:solidFill>
                <a:latin typeface="Calibri"/>
              </a:rPr>
              <a:t>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B82"/>
                </a:solidFill>
                <a:latin typeface="Calibri"/>
              </a:rPr>
              <a:t>Challenge the path. Keep the contribution honest.
Appendix available for denser graphs and citations.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Calibri"/>
              </a:rPr>
              <a:t>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49 / 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49 / 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